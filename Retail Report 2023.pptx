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[BRAVE.xlsx]Analysis!PivotTable5</c:name>
    <c:fmtId val="5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PH" sz="2400" b="1" i="0">
                <a:effectLst/>
              </a:rPr>
              <a:t>Total Sales per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Analysis!$B$10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63-4EBE-A7FB-B71DC01639F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63-4EBE-A7FB-B71DC01639F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63-4EBE-A7FB-B71DC01639F9}"/>
              </c:ext>
            </c:extLst>
          </c:dPt>
          <c:cat>
            <c:strRef>
              <c:f>Analysis!$A$11:$A$14</c:f>
              <c:strCache>
                <c:ptCount val="3"/>
                <c:pt idx="0">
                  <c:v>Beauty</c:v>
                </c:pt>
                <c:pt idx="1">
                  <c:v>Clothing</c:v>
                </c:pt>
                <c:pt idx="2">
                  <c:v>Electronics</c:v>
                </c:pt>
              </c:strCache>
            </c:strRef>
          </c:cat>
          <c:val>
            <c:numRef>
              <c:f>Analysis!$B$11:$B$14</c:f>
              <c:numCache>
                <c:formatCode>"₱"#,##0.00</c:formatCode>
                <c:ptCount val="3"/>
                <c:pt idx="0">
                  <c:v>143515</c:v>
                </c:pt>
                <c:pt idx="1">
                  <c:v>155580</c:v>
                </c:pt>
                <c:pt idx="2">
                  <c:v>156905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63-4EBE-A7FB-B71DC01639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5477584"/>
        <c:axId val="58327536"/>
      </c:barChart>
      <c:catAx>
        <c:axId val="1054775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327536"/>
        <c:crosses val="autoZero"/>
        <c:auto val="1"/>
        <c:lblAlgn val="ctr"/>
        <c:lblOffset val="100"/>
        <c:noMultiLvlLbl val="0"/>
      </c:catAx>
      <c:valAx>
        <c:axId val="583275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₱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477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[BRAVE.xlsx]Analysis!PivotTable9</c:name>
    <c:fmtId val="9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PH" sz="1800" b="1" i="0">
                <a:effectLst/>
              </a:rPr>
              <a:t>Product Preference by Age Group</a:t>
            </a:r>
            <a:endParaRPr lang="en-PH" sz="1800" b="0" i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H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Analysis!$B$71:$B$72</c:f>
              <c:strCache>
                <c:ptCount val="1"/>
                <c:pt idx="0">
                  <c:v>Beauty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Analysis!$A$73:$A$78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Analysis!$B$73:$B$78</c:f>
              <c:numCache>
                <c:formatCode>"₱"#,##0</c:formatCode>
                <c:ptCount val="5"/>
                <c:pt idx="0">
                  <c:v>28905</c:v>
                </c:pt>
                <c:pt idx="1">
                  <c:v>28540</c:v>
                </c:pt>
                <c:pt idx="2">
                  <c:v>29450</c:v>
                </c:pt>
                <c:pt idx="3">
                  <c:v>35950</c:v>
                </c:pt>
                <c:pt idx="4">
                  <c:v>20670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4-41C8-854C-AA0A4C8AB529}"/>
            </c:ext>
          </c:extLst>
        </c:ser>
        <c:ser>
          <c:idx val="1"/>
          <c:order val="1"/>
          <c:tx>
            <c:strRef>
              <c:f>Analysis!$C$71:$C$72</c:f>
              <c:strCache>
                <c:ptCount val="1"/>
                <c:pt idx="0">
                  <c:v>Clothing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Analysis!$A$73:$A$78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Analysis!$C$73:$C$78</c:f>
              <c:numCache>
                <c:formatCode>"₱"#,##0</c:formatCode>
                <c:ptCount val="5"/>
                <c:pt idx="0">
                  <c:v>22160</c:v>
                </c:pt>
                <c:pt idx="1">
                  <c:v>41640</c:v>
                </c:pt>
                <c:pt idx="2">
                  <c:v>30925</c:v>
                </c:pt>
                <c:pt idx="3">
                  <c:v>29545</c:v>
                </c:pt>
                <c:pt idx="4">
                  <c:v>31310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4-41C8-854C-AA0A4C8AB529}"/>
            </c:ext>
          </c:extLst>
        </c:ser>
        <c:ser>
          <c:idx val="2"/>
          <c:order val="2"/>
          <c:tx>
            <c:strRef>
              <c:f>Analysis!$D$71:$D$72</c:f>
              <c:strCache>
                <c:ptCount val="1"/>
                <c:pt idx="0">
                  <c:v>Electronics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Analysis!$A$73:$A$78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Analysis!$D$73:$D$78</c:f>
              <c:numCache>
                <c:formatCode>"₱"#,##0</c:formatCode>
                <c:ptCount val="5"/>
                <c:pt idx="0">
                  <c:v>23585</c:v>
                </c:pt>
                <c:pt idx="1">
                  <c:v>26910</c:v>
                </c:pt>
                <c:pt idx="2">
                  <c:v>36460</c:v>
                </c:pt>
                <c:pt idx="3">
                  <c:v>31740</c:v>
                </c:pt>
                <c:pt idx="4">
                  <c:v>38210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4-41C8-854C-AA0A4C8AB5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2363488"/>
        <c:axId val="58336656"/>
      </c:barChart>
      <c:catAx>
        <c:axId val="162363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336656"/>
        <c:crosses val="autoZero"/>
        <c:auto val="1"/>
        <c:lblAlgn val="ctr"/>
        <c:lblOffset val="100"/>
        <c:noMultiLvlLbl val="0"/>
      </c:catAx>
      <c:valAx>
        <c:axId val="58336656"/>
        <c:scaling>
          <c:orientation val="minMax"/>
        </c:scaling>
        <c:delete val="0"/>
        <c:axPos val="l"/>
        <c:numFmt formatCode="&quot;₱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363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[BRAVE.xlsx]Analysis!PivotTable6</c:name>
    <c:fmtId val="7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PH" sz="1800" b="1" i="0">
                <a:effectLst/>
              </a:rPr>
              <a:t>Customer Spending by Age Group and Gender</a:t>
            </a:r>
            <a:endParaRPr lang="en-PH" sz="1800" b="0" i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H"/>
        </a:p>
      </c:txPr>
    </c:title>
    <c:autoTitleDeleted val="0"/>
    <c:pivotFmts>
      <c:pivotFmt>
        <c:idx val="0"/>
        <c:spPr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Analysis!$B$20:$B$21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Analysis!$A$22:$A$27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Analysis!$B$22:$B$27</c:f>
              <c:numCache>
                <c:formatCode>"₱"#,##0.00</c:formatCode>
                <c:ptCount val="5"/>
                <c:pt idx="0">
                  <c:v>35920</c:v>
                </c:pt>
                <c:pt idx="1">
                  <c:v>51850</c:v>
                </c:pt>
                <c:pt idx="2">
                  <c:v>52965</c:v>
                </c:pt>
                <c:pt idx="3">
                  <c:v>46825</c:v>
                </c:pt>
                <c:pt idx="4">
                  <c:v>45280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7B-487B-A665-03389A7B6AED}"/>
            </c:ext>
          </c:extLst>
        </c:ser>
        <c:ser>
          <c:idx val="1"/>
          <c:order val="1"/>
          <c:tx>
            <c:strRef>
              <c:f>Analysis!$C$20:$C$21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cat>
            <c:strRef>
              <c:f>Analysis!$A$22:$A$27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Analysis!$C$22:$C$27</c:f>
              <c:numCache>
                <c:formatCode>"₱"#,##0.00</c:formatCode>
                <c:ptCount val="5"/>
                <c:pt idx="0">
                  <c:v>38730</c:v>
                </c:pt>
                <c:pt idx="1">
                  <c:v>45240</c:v>
                </c:pt>
                <c:pt idx="2">
                  <c:v>43870</c:v>
                </c:pt>
                <c:pt idx="3">
                  <c:v>50410</c:v>
                </c:pt>
                <c:pt idx="4">
                  <c:v>44910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7B-487B-A665-03389A7B6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619296"/>
        <c:axId val="58328976"/>
      </c:barChart>
      <c:catAx>
        <c:axId val="16461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328976"/>
        <c:crosses val="autoZero"/>
        <c:auto val="1"/>
        <c:lblAlgn val="ctr"/>
        <c:lblOffset val="100"/>
        <c:noMultiLvlLbl val="0"/>
      </c:catAx>
      <c:valAx>
        <c:axId val="58328976"/>
        <c:scaling>
          <c:orientation val="minMax"/>
        </c:scaling>
        <c:delete val="0"/>
        <c:axPos val="l"/>
        <c:numFmt formatCode="&quot;₱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1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[BRAVE.xlsx]Analysis!PivotTable8</c:name>
    <c:fmtId val="8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Monthly Sales Trend (2023)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Analysis!$B$54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Analysis!$A$55:$A$67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Analysis!$B$55:$B$67</c:f>
              <c:numCache>
                <c:formatCode>"₱"#,##0.00</c:formatCode>
                <c:ptCount val="12"/>
                <c:pt idx="0">
                  <c:v>36980</c:v>
                </c:pt>
                <c:pt idx="1">
                  <c:v>44060</c:v>
                </c:pt>
                <c:pt idx="2">
                  <c:v>28990</c:v>
                </c:pt>
                <c:pt idx="3">
                  <c:v>33870</c:v>
                </c:pt>
                <c:pt idx="4">
                  <c:v>53150</c:v>
                </c:pt>
                <c:pt idx="5">
                  <c:v>36715</c:v>
                </c:pt>
                <c:pt idx="6">
                  <c:v>35465</c:v>
                </c:pt>
                <c:pt idx="7">
                  <c:v>36960</c:v>
                </c:pt>
                <c:pt idx="8">
                  <c:v>23620</c:v>
                </c:pt>
                <c:pt idx="9">
                  <c:v>46580</c:v>
                </c:pt>
                <c:pt idx="10">
                  <c:v>34920</c:v>
                </c:pt>
                <c:pt idx="11">
                  <c:v>44690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E8-4A59-8659-4C8006B1F6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995472"/>
        <c:axId val="58222896"/>
      </c:lineChart>
      <c:catAx>
        <c:axId val="10799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22896"/>
        <c:crosses val="autoZero"/>
        <c:auto val="1"/>
        <c:lblAlgn val="ctr"/>
        <c:lblOffset val="100"/>
        <c:noMultiLvlLbl val="0"/>
      </c:catAx>
      <c:valAx>
        <c:axId val="58222896"/>
        <c:scaling>
          <c:orientation val="minMax"/>
        </c:scaling>
        <c:delete val="0"/>
        <c:axPos val="l"/>
        <c:numFmt formatCode="&quot;₱&quot;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99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[BRAVE.xlsx]Analysis!PivotTable10</c:name>
    <c:fmtId val="9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PH" sz="1800" b="1" i="0">
                <a:effectLst/>
              </a:rPr>
              <a:t>Category Sales per Quarter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H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Analysis!$B$86:$B$87</c:f>
              <c:strCache>
                <c:ptCount val="1"/>
                <c:pt idx="0">
                  <c:v>Beauty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Analysis!$A$88:$A$92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Analysis!$B$88:$B$92</c:f>
              <c:numCache>
                <c:formatCode>"₱"#,##0</c:formatCode>
                <c:ptCount val="4"/>
                <c:pt idx="0">
                  <c:v>38510</c:v>
                </c:pt>
                <c:pt idx="1">
                  <c:v>35350</c:v>
                </c:pt>
                <c:pt idx="2">
                  <c:v>32200</c:v>
                </c:pt>
                <c:pt idx="3">
                  <c:v>37455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79-4415-B146-BA34BDD6FD2E}"/>
            </c:ext>
          </c:extLst>
        </c:ser>
        <c:ser>
          <c:idx val="1"/>
          <c:order val="1"/>
          <c:tx>
            <c:strRef>
              <c:f>Analysis!$C$86:$C$87</c:f>
              <c:strCache>
                <c:ptCount val="1"/>
                <c:pt idx="0">
                  <c:v>Clothing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Analysis!$A$88:$A$92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Analysis!$C$88:$C$92</c:f>
              <c:numCache>
                <c:formatCode>"₱"#,##0</c:formatCode>
                <c:ptCount val="4"/>
                <c:pt idx="0">
                  <c:v>42750</c:v>
                </c:pt>
                <c:pt idx="1">
                  <c:v>41565</c:v>
                </c:pt>
                <c:pt idx="2">
                  <c:v>30680</c:v>
                </c:pt>
                <c:pt idx="3">
                  <c:v>40585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79-4415-B146-BA34BDD6FD2E}"/>
            </c:ext>
          </c:extLst>
        </c:ser>
        <c:ser>
          <c:idx val="2"/>
          <c:order val="2"/>
          <c:tx>
            <c:strRef>
              <c:f>Analysis!$D$86:$D$87</c:f>
              <c:strCache>
                <c:ptCount val="1"/>
                <c:pt idx="0">
                  <c:v>Electronics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Analysis!$A$88:$A$92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Analysis!$D$88:$D$92</c:f>
              <c:numCache>
                <c:formatCode>"₱"#,##0</c:formatCode>
                <c:ptCount val="4"/>
                <c:pt idx="0">
                  <c:v>28770</c:v>
                </c:pt>
                <c:pt idx="1">
                  <c:v>46820</c:v>
                </c:pt>
                <c:pt idx="2">
                  <c:v>33165</c:v>
                </c:pt>
                <c:pt idx="3">
                  <c:v>48150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D79-4415-B146-BA34BDD6F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2422880"/>
        <c:axId val="58273776"/>
      </c:lineChart>
      <c:catAx>
        <c:axId val="16242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73776"/>
        <c:crosses val="autoZero"/>
        <c:auto val="1"/>
        <c:lblAlgn val="ctr"/>
        <c:lblOffset val="100"/>
        <c:noMultiLvlLbl val="0"/>
      </c:catAx>
      <c:valAx>
        <c:axId val="58273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₱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42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302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843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62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356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368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352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608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124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640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902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805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08D981F-DBA0-48C5-B404-46AEC9629A75}" type="datetimeFigureOut">
              <a:rPr lang="en-PH" smtClean="0"/>
              <a:t>9/29/2026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E78BB76B-5AA6-4AD6-BDAD-79ABE8AD38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017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2FF4-001C-DD2C-65B7-CDFB67B9D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en-PH" dirty="0"/>
              <a:t>Reducing Q3 Sales Decline Through Customer and Product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B2595-8E1B-6C3E-1330-E3470512ED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AO minimarket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03496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0054-219A-8DEE-F70F-8B3DE6DC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happening?</a:t>
            </a:r>
            <a:endParaRPr lang="en-P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2926D-08FA-0FE2-D7E9-6DE9366D5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0C6CA-336E-CC3B-2D00-CB3210CFEF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retailer generated ₱456,000 in sales across 1,000 transactions and 2,514 units sold during 2023. Electronics was the highest revenue-generating category, while customers aged 25-54 contributed the largest share of spending.</a:t>
            </a:r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EE945-7D12-BED5-6DB6-DB90523FA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Complication</a:t>
            </a:r>
            <a:endParaRPr lang="en-PH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6A1D93-B081-BE35-4897-C12CD099CEA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Despite strong annual performance, sales fell significantly in Q3 to ₱96,045, making it the weakest quarter of the year. The decline affected all product categories and reduced overall business performance.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2001439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2A752-0735-ECDC-0F83-D86A755F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53CE-6065-3A87-AB18-6AE2442B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happening?</a:t>
            </a:r>
            <a:endParaRPr lang="en-P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C5241-C0D2-A8FF-A52E-A505D4B09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3BC26-EEBF-91BD-0006-2CFF537B90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can the retailer reduce the Q3 sales decline and maintain more consistent revenue throughout the year?</a:t>
            </a:r>
            <a:endParaRPr lang="en-PH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3FB4A-BA52-ED65-558E-51F1AD7C8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Answer</a:t>
            </a:r>
            <a:endParaRPr lang="en-PH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041815-3878-D523-2894-7B352AC4781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retailer should leverage its strongest revenue drivers, specifically Electronics and customers aged 25-54, through targeted seasonal promotions and customer-focused campaigns during Q3.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385363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39121A-B725-F981-DE14-EE1D56129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2" t="10159" r="7316" b="21428"/>
          <a:stretch>
            <a:fillRect/>
          </a:stretch>
        </p:blipFill>
        <p:spPr>
          <a:xfrm>
            <a:off x="1330975" y="386443"/>
            <a:ext cx="9530050" cy="60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20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5765-B62B-A754-55F1-7D24C598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Electronics Is the Strongest Revenue Driver and a Key Lever for Growth</a:t>
            </a:r>
            <a:endParaRPr lang="en-PH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9A86EB-8BB9-485B-86F7-9B042D5E92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68738" y="863600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532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5C60F-C40B-CC52-B995-C525BF032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1FEF-2C7C-E13D-2751-899F2E8D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Customers Aged 25-54 Drive Most Retail Revenue</a:t>
            </a:r>
            <a:endParaRPr lang="en-PH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77D94E1-8B07-4A7E-9C7C-A2177E0D73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315707"/>
              </p:ext>
            </p:extLst>
          </p:nvPr>
        </p:nvGraphicFramePr>
        <p:xfrm>
          <a:off x="3868738" y="863600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097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38A80-872A-A77C-7DEF-DC2D6387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A748-1B3A-8E27-086F-FFA7850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Spending Differences Create Opportunities for Targeted Promotions</a:t>
            </a:r>
            <a:endParaRPr lang="en-PH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CA930A-14B5-4BBB-B7D9-958FF40390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007379"/>
              </p:ext>
            </p:extLst>
          </p:nvPr>
        </p:nvGraphicFramePr>
        <p:xfrm>
          <a:off x="3868738" y="863600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4263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C23A-C0B5-4D63-CAD8-F77DE26A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93A45-5967-0B62-295B-09C8BC67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Momentum Weakened During Q3 Before Recovering in Q4</a:t>
            </a:r>
            <a:endParaRPr lang="en-PH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34DD98D-770E-43B8-8AF2-C779D88502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802693"/>
              </p:ext>
            </p:extLst>
          </p:nvPr>
        </p:nvGraphicFramePr>
        <p:xfrm>
          <a:off x="3631995" y="863790"/>
          <a:ext cx="7315200" cy="512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997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C421-025D-4B18-F8F2-7E8F8E3B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5EB8-4C5A-F797-381E-A86D9E58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Sales Slowdown Impacts All Categories Before Strong Q4 Recovery</a:t>
            </a:r>
            <a:endParaRPr lang="en-PH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04F9C01-1AC3-4344-B06E-4256A42180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4680095"/>
              </p:ext>
            </p:extLst>
          </p:nvPr>
        </p:nvGraphicFramePr>
        <p:xfrm>
          <a:off x="3821320" y="892629"/>
          <a:ext cx="7695766" cy="51380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4373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3EBA-6553-02EE-ACB7-D0811C1D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Recommendations</a:t>
            </a:r>
            <a:endParaRPr lang="en-PH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4A3C0-8623-F4EE-D764-39F2FBE60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Q3 sales through Electronics bundle promotions targeted at high-value customers aged 25-54.</a:t>
            </a:r>
          </a:p>
          <a:p>
            <a:r>
              <a:rPr lang="en-US"/>
              <a:t>Improve promotional effectiveness through age- and gender-based customer segmentation campaigns.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36655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432</TotalTime>
  <Words>235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Corbel</vt:lpstr>
      <vt:lpstr>Wingdings 2</vt:lpstr>
      <vt:lpstr>Frame</vt:lpstr>
      <vt:lpstr>Reducing Q3 Sales Decline Through Customer and Product Insights</vt:lpstr>
      <vt:lpstr>What is happening?</vt:lpstr>
      <vt:lpstr>What is happening?</vt:lpstr>
      <vt:lpstr>PowerPoint Presentation</vt:lpstr>
      <vt:lpstr>Electronics Is the Strongest Revenue Driver and a Key Lever for Growth</vt:lpstr>
      <vt:lpstr>Customers Aged 25-54 Drive Most Retail Revenue</vt:lpstr>
      <vt:lpstr>Gender Spending Differences Create Opportunities for Targeted Promotions</vt:lpstr>
      <vt:lpstr>Sales Momentum Weakened During Q3 Before Recovering in Q4</vt:lpstr>
      <vt:lpstr>Q3 Sales Slowdown Impacts All Categories Before Strong Q4 Recovery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Navarro</dc:creator>
  <cp:lastModifiedBy>Ian Navarro</cp:lastModifiedBy>
  <cp:revision>3</cp:revision>
  <dcterms:created xsi:type="dcterms:W3CDTF">2026-09-19T07:26:16Z</dcterms:created>
  <dcterms:modified xsi:type="dcterms:W3CDTF">2026-09-29T13:40:33Z</dcterms:modified>
</cp:coreProperties>
</file>